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~25s. Historical experiment, not advice. The chips are the headline: 16.7% return, Sharpe 2.37, -5.3% drawdown, beats SPY in all five uncached runs. Mention it runs on AWS Bedrock + AgentCore.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One line on the valve, one per lane. Then the three rules: no peeking (leakage test), show the sources (validator), score once (cache + one final run).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~45s. MSFT chosen by rule (widest disagreement, spread 0.78). Fundamentals +0.90 vs technical -0.85. Manager underweights to 8% rather than cutting; cash absorbs the uncertainty. Every figure is a cited, validated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~45s. Walk the table: beats SPY on every row. The robustness card is the honest bit — beats equal weight only 3/5, so say 'close to equal weight, not a clear win.' Top contributors AAPL, XOM, KO.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~25s. Risk agent (report-only, 8/8 checks, learns across runs) and CrashLab (2008 -52%, 2020 -27%, proposes trims). Close on reproducibility, honest limits, the scorecard, and what's next. End on the disclaimer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874519"/>
            <a:ext cx="12081967" cy="2514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9900"/>
                </a:solidFill>
                <a:latin typeface="Segoe UI"/>
              </a:rPr>
              <a:t>AGENTIC AI · FINANCIAL PORTFOLIO MANAGEMENT · TRACK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4000" b="1" i="0">
                <a:solidFill>
                  <a:srgbClr val="EAF1F8"/>
                </a:solidFill>
                <a:latin typeface="Segoe UI"/>
              </a:rPr>
              <a:t>Multi-agent portfolio research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700" b="0" i="0">
                <a:solidFill>
                  <a:srgbClr val="9FB0C0"/>
                </a:solidFill>
                <a:latin typeface="Segoe UI"/>
              </a:rPr>
              <a:t>Five specialist analyst agents and a portfolio manager build a defensible portfolio from point-in-time evidence, then a backtest scores it honestly against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9FB0C0"/>
                </a:solidFill>
                <a:latin typeface="Segoe UI"/>
              </a:rPr>
              <a:t>Built on AWS Bedrock (</a:t>
            </a:r>
            <a:r>
              <a:rPr sz="1300" b="1" i="0">
                <a:solidFill>
                  <a:srgbClr val="FF9900"/>
                </a:solidFill>
                <a:latin typeface="Segoe UI"/>
              </a:rPr>
              <a:t>us.openai.gpt-5.6-luna</a:t>
            </a:r>
            <a:r>
              <a:rPr sz="1300" b="0" i="0">
                <a:solidFill>
                  <a:srgbClr val="9FB0C0"/>
                </a:solidFill>
                <a:latin typeface="Segoe UI"/>
              </a:rPr>
              <a:t>, us-east-1) and Amazon Bedrock AgentCore.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006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19050">
            <a:solidFill>
              <a:srgbClr val="EC7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9900"/>
                </a:solidFill>
                <a:latin typeface="Segoe UI"/>
              </a:rPr>
              <a:t>16.7%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9FB0C0"/>
                </a:solidFill>
                <a:latin typeface="Segoe UI"/>
              </a:rPr>
              <a:t>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8006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19050">
            <a:solidFill>
              <a:srgbClr val="EC7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9377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9900"/>
                </a:solidFill>
                <a:latin typeface="Segoe UI"/>
              </a:rPr>
              <a:t>2.37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9FB0C0"/>
                </a:solidFill>
                <a:latin typeface="Segoe UI"/>
              </a:rPr>
              <a:t>Sharpe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8006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19050">
            <a:solidFill>
              <a:srgbClr val="EC7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9377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9900"/>
                </a:solidFill>
                <a:latin typeface="Segoe UI"/>
              </a:rPr>
              <a:t>-5.3%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9FB0C0"/>
                </a:solidFill>
                <a:latin typeface="Segoe UI"/>
              </a:rPr>
              <a:t>Max drawdown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8006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19050">
            <a:solidFill>
              <a:srgbClr val="EC7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493776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9900"/>
                </a:solidFill>
                <a:latin typeface="Segoe UI"/>
              </a:rPr>
              <a:t>5 / 5 runs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9FB0C0"/>
                </a:solidFill>
                <a:latin typeface="Segoe UI"/>
              </a:rPr>
              <a:t>Beats SPY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A6D80"/>
                </a:solidFill>
                <a:latin typeface="Segoe UI"/>
              </a:rPr>
              <a:t>Multi-agent portfolio research · Austin Agentic AI Hackathon · historical experiment, not financial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9FB0C0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EAF1F8"/>
                </a:solidFill>
                <a:latin typeface="Segoe UI"/>
              </a:rPr>
              <a:t>How it thinks: evidence in, a decision it can defend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1C8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44752"/>
            <a:ext cx="228600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EAF1F8"/>
                </a:solidFill>
                <a:latin typeface="Segoe UI"/>
              </a:rPr>
              <a:t>Evidence packs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9FB0C0"/>
                </a:solidFill>
                <a:latin typeface="Segoe UI"/>
              </a:rPr>
              <a:t>prices, macro, SEC
filings, news, geo
each item an ID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63824" y="1901952"/>
            <a:ext cx="256032" cy="219456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2152" y="1371600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9B3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444752"/>
            <a:ext cx="228600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EAF1F8"/>
                </a:solidFill>
                <a:latin typeface="Segoe UI"/>
              </a:rPr>
              <a:t>5 analysts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9FB0C0"/>
                </a:solidFill>
                <a:latin typeface="Segoe UI"/>
              </a:rPr>
              <a:t>technical, fundamentals
macro, sentiment
geopolitics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25896" y="1901952"/>
            <a:ext cx="256032" cy="219456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371600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9B3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44752"/>
            <a:ext cx="228600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EAF1F8"/>
                </a:solidFill>
                <a:latin typeface="Segoe UI"/>
              </a:rPr>
              <a:t>Portfolio manager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9FB0C0"/>
                </a:solidFill>
                <a:latin typeface="Segoe UI"/>
              </a:rPr>
              <a:t>reconciles conflicts
-&gt; weights, rationale,
sources, triggers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87968" y="1901952"/>
            <a:ext cx="256032" cy="219456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26296" y="1371600"/>
            <a:ext cx="2505456" cy="128016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1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1444752"/>
            <a:ext cx="228600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EAF1F8"/>
                </a:solidFill>
                <a:latin typeface="Segoe UI"/>
              </a:rPr>
              <a:t>Backtest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9FB0C0"/>
                </a:solidFill>
                <a:latin typeface="Segoe UI"/>
              </a:rPr>
              <a:t>vs SPY &amp; equal weight
fees, Sharpe,
drawdown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FF9900"/>
                </a:solidFill>
                <a:latin typeface="Segoe UI"/>
              </a:rPr>
              <a:t>The cutoff is a one-way valve. </a:t>
            </a:r>
            <a:r>
              <a:rPr sz="1400" b="0" i="0">
                <a:solidFill>
                  <a:srgbClr val="9FB0C0"/>
                </a:solidFill>
                <a:latin typeface="Segoe UI"/>
              </a:rPr>
              <a:t>Agents read only evidence built through a point-in-time guard; the single file that crosses into the future is decision.json, frozen before any later price is loaded.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529584" cy="228600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1C8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30752"/>
            <a:ext cx="3163824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No peeking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9FB0C0"/>
                </a:solidFill>
                <a:latin typeface="Segoe UI"/>
              </a:rPr>
              <a:t>Nothing dated after the cutoff reaches an agent. A leakage test scans every output and fails the run if a later date appears.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3611880"/>
            <a:ext cx="3529584" cy="228600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1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730752"/>
            <a:ext cx="3163824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Show the sources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9FB0C0"/>
                </a:solidFill>
                <a:latin typeface="Segoe UI"/>
              </a:rPr>
              <a:t>Every claim cites an evidence ID. A validator rejects any ID not in the pack, so no number is unsupported.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3611880"/>
            <a:ext cx="3529584" cy="228600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9B3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730752"/>
            <a:ext cx="3163824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Score once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9FB0C0"/>
                </a:solidFill>
                <a:latin typeface="Segoe UI"/>
              </a:rPr>
              <a:t>Tune on an earlier cutoff, freeze prompts and data, cache every model call, then run the final window exactly once.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A6D80"/>
                </a:solidFill>
                <a:latin typeface="Segoe UI"/>
              </a:rPr>
              <a:t>Multi-agent portfolio research · Austin Agentic AI Hackathon · historical experiment, not financial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9FB0C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Segoe UI"/>
              </a:rPr>
              <a:t>REASONING, OPENED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EAF1F8"/>
                </a:solidFill>
                <a:latin typeface="Segoe UI"/>
              </a:rPr>
              <a:t>One decision: MSFT, where the analysts disagree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0" i="0">
                <a:solidFill>
                  <a:srgbClr val="9FB0C0"/>
                </a:solidFill>
                <a:latin typeface="Segoe UI"/>
              </a:rPr>
              <a:t>We pick the deep-dive by rule before seeing any result: the position with the widest analyst disagreement. That is MSFT, and it shows the system reconciling a real conflict rather than rubber-stamping a consensus.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9B3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50592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The conflict (spread 0.78, widest in the universe)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0" i="0">
                <a:solidFill>
                  <a:srgbClr val="EAF1F8"/>
                </a:solidFill>
                <a:latin typeface="Segoe UI"/>
              </a:rPr>
              <a:t>Fundamentals  </a:t>
            </a:r>
            <a:r>
              <a:rPr sz="1300" b="1" i="0">
                <a:solidFill>
                  <a:srgbClr val="1C8A5E"/>
                </a:solidFill>
                <a:latin typeface="Segoe UI"/>
              </a:rPr>
              <a:t>+0.90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  16.7% revenue growth, 20.9% operating-income growth, a 47% margin.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0" i="0">
                <a:solidFill>
                  <a:srgbClr val="EAF1F8"/>
                </a:solidFill>
                <a:latin typeface="Segoe UI"/>
              </a:rPr>
              <a:t>Technical  </a:t>
            </a:r>
            <a:r>
              <a:rPr sz="1300" b="1" i="0">
                <a:solidFill>
                  <a:srgbClr val="D65A5A"/>
                </a:solidFill>
                <a:latin typeface="Segoe UI"/>
              </a:rPr>
              <a:t>-0.85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  a death cross, price below both moving averages, sharply negative momentum.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0" i="0">
                <a:solidFill>
                  <a:srgbClr val="EAF1F8"/>
                </a:solidFill>
                <a:latin typeface="Segoe UI"/>
              </a:rPr>
              <a:t>Sentiment  </a:t>
            </a:r>
            <a:r>
              <a:rPr sz="1300" b="1" i="0">
                <a:solidFill>
                  <a:srgbClr val="7FA6CC"/>
                </a:solidFill>
                <a:latin typeface="Segoe UI"/>
              </a:rPr>
              <a:t>+0.25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  modestly constructive, but on weaker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3172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1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7000"/>
              </a:lnSpc>
              <a:spcAft>
                <a:spcPts val="9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The call: 8% — underweight, not a cut</a:t>
            </a:r>
          </a:p>
          <a:p>
            <a:pPr algn="l">
              <a:lnSpc>
                <a:spcPct val="107000"/>
              </a:lnSpc>
              <a:spcAft>
                <a:spcPts val="900"/>
              </a:spcAft>
            </a:pPr>
            <a:r>
              <a:rPr sz="1200" b="0" i="0">
                <a:solidFill>
                  <a:srgbClr val="9FB0C0"/>
                </a:solidFill>
                <a:latin typeface="Segoe UI"/>
              </a:rPr>
              <a:t>The fundamental quality is compelling, but the technical downtrend is the clearest near-term risk and carries very high confidence. The manager keeps a starter position and lets cash absorb the uncertainty.</a:t>
            </a:r>
          </a:p>
          <a:p>
            <a:pPr algn="l">
              <a:lnSpc>
                <a:spcPct val="107000"/>
              </a:lnSpc>
              <a:spcAft>
                <a:spcPts val="900"/>
              </a:spcAft>
            </a:pPr>
            <a:r>
              <a:rPr sz="1300" b="1" i="0">
                <a:solidFill>
                  <a:srgbClr val="FF9900"/>
                </a:solidFill>
                <a:latin typeface="Segoe UI"/>
              </a:rPr>
              <a:t>Change triggers: 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add if price reclaims the 200-day and momentum stabilises; cut if momentum worsens, revenue growth falls below 10%, or export controls broaden to advanced chips.</a:t>
            </a:r>
          </a:p>
          <a:p>
            <a:pPr algn="l">
              <a:lnSpc>
                <a:spcPct val="107000"/>
              </a:lnSpc>
              <a:spcAft>
                <a:spcPts val="900"/>
              </a:spcAft>
            </a:pPr>
            <a:r>
              <a:rPr sz="1200" b="0" i="1">
                <a:solidFill>
                  <a:srgbClr val="1C8A5E"/>
                </a:solidFill>
                <a:latin typeface="Segoe UI"/>
              </a:rPr>
              <a:t>Every figure above is a cited, validated evidence 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A6D80"/>
                </a:solidFill>
                <a:latin typeface="Segoe UI"/>
              </a:rPr>
              <a:t>Multi-agent portfolio research · Austin Agentic AI Hackathon · historical experiment, not financial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9FB0C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Segoe UI"/>
              </a:rPr>
              <a:t>WHAT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EAF1F8"/>
                </a:solidFill>
                <a:latin typeface="Segoe UI"/>
              </a:rPr>
              <a:t>Beats SPY on every measure; close to equal weight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6675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EAF1F8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T="25400" marB="25400" marL="88900" marR="8890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EAF1F8"/>
                          </a:solidFill>
                          <a:latin typeface="Segoe UI"/>
                        </a:rPr>
                        <a:t>Portfolio</a:t>
                      </a:r>
                    </a:p>
                  </a:txBody>
                  <a:tcPr marT="25400" marB="25400" marL="88900" marR="8890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EAF1F8"/>
                          </a:solidFill>
                          <a:latin typeface="Segoe UI"/>
                        </a:rPr>
                        <a:t>SPY</a:t>
                      </a:r>
                    </a:p>
                  </a:txBody>
                  <a:tcPr marT="25400" marB="25400" marL="88900" marR="8890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EAF1F8"/>
                          </a:solidFill>
                          <a:latin typeface="Segoe UI"/>
                        </a:rPr>
                        <a:t>Equal wt</a:t>
                      </a:r>
                    </a:p>
                  </a:txBody>
                  <a:tcPr marT="25400" marB="25400" marL="88900" marR="88900" anchor="ctr">
                    <a:solidFill>
                      <a:srgbClr val="0F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Total return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8A5E"/>
                          </a:solidFill>
                          <a:latin typeface="Segoe UI"/>
                        </a:rPr>
                        <a:t>16.7%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11.2%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15.5%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CAGR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8A5E"/>
                          </a:solidFill>
                          <a:latin typeface="Segoe UI"/>
                        </a:rPr>
                        <a:t>24.3%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16.1%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22.6%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Volatility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8A5E"/>
                          </a:solidFill>
                          <a:latin typeface="Segoe UI"/>
                        </a:rPr>
                        <a:t>9.4%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13.3%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10.3%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Sharpe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8A5E"/>
                          </a:solidFill>
                          <a:latin typeface="Segoe UI"/>
                        </a:rPr>
                        <a:t>2.37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1.19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2.02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Max drawdown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8A5E"/>
                          </a:solidFill>
                          <a:latin typeface="Segoe UI"/>
                        </a:rPr>
                        <a:t>-5.3%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-8.9%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EAF1F8"/>
                          </a:solidFill>
                          <a:latin typeface="Segoe UI"/>
                        </a:rPr>
                        <a:t>-6.1%</a:t>
                      </a:r>
                    </a:p>
                  </a:txBody>
                  <a:tcPr marT="25400" marB="25400" marL="88900" marR="88900" anchor="ctr">
                    <a:solidFill>
                      <a:srgbClr val="14243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06640" y="1417320"/>
            <a:ext cx="4251960" cy="329184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EC7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536192"/>
            <a:ext cx="39319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7000"/>
              </a:lnSpc>
              <a:spcAft>
                <a:spcPts val="7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How stable is this?</a:t>
            </a:r>
          </a:p>
          <a:p>
            <a:pPr algn="l">
              <a:lnSpc>
                <a:spcPct val="107000"/>
              </a:lnSpc>
              <a:spcAft>
                <a:spcPts val="700"/>
              </a:spcAft>
            </a:pPr>
            <a:r>
              <a:rPr sz="1150" b="0" i="0">
                <a:solidFill>
                  <a:srgbClr val="9FB0C0"/>
                </a:solidFill>
                <a:latin typeface="Segoe UI"/>
              </a:rPr>
              <a:t>The models take no temperature setting, so uncached runs vary. Across five uncached runs on identical evidence:</a:t>
            </a:r>
          </a:p>
          <a:p>
            <a:pPr algn="l">
              <a:lnSpc>
                <a:spcPct val="107000"/>
              </a:lnSpc>
              <a:spcAft>
                <a:spcPts val="700"/>
              </a:spcAft>
            </a:pPr>
            <a:r>
              <a:rPr sz="1250" b="1" i="0">
                <a:solidFill>
                  <a:srgbClr val="EAF1F8"/>
                </a:solidFill>
                <a:latin typeface="Segoe UI"/>
              </a:rPr>
              <a:t>Return 15.7% mean, range 14.9–16.4%.</a:t>
            </a:r>
          </a:p>
          <a:p>
            <a:pPr algn="l">
              <a:lnSpc>
                <a:spcPct val="107000"/>
              </a:lnSpc>
              <a:spcAft>
                <a:spcPts val="700"/>
              </a:spcAft>
            </a:pPr>
            <a:r>
              <a:rPr sz="1200" b="0" i="0">
                <a:solidFill>
                  <a:srgbClr val="9FB0C0"/>
                </a:solidFill>
                <a:latin typeface="Segoe UI"/>
              </a:rPr>
              <a:t>Beat SPY in </a:t>
            </a:r>
            <a:r>
              <a:rPr sz="1300" b="1" i="0">
                <a:solidFill>
                  <a:srgbClr val="1C8A5E"/>
                </a:solidFill>
                <a:latin typeface="Segoe UI"/>
              </a:rPr>
              <a:t>5 of 5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 runs; beat equal weight in </a:t>
            </a:r>
            <a:r>
              <a:rPr sz="1300" b="1" i="0">
                <a:solidFill>
                  <a:srgbClr val="FF9900"/>
                </a:solidFill>
                <a:latin typeface="Segoe UI"/>
              </a:rPr>
              <a:t>3 of 5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.</a:t>
            </a:r>
          </a:p>
          <a:p>
            <a:pPr algn="l">
              <a:lnSpc>
                <a:spcPct val="107000"/>
              </a:lnSpc>
              <a:spcAft>
                <a:spcPts val="700"/>
              </a:spcAft>
            </a:pPr>
            <a:r>
              <a:rPr sz="1100" b="0" i="1">
                <a:solidFill>
                  <a:srgbClr val="9FB0C0"/>
                </a:solidFill>
                <a:latin typeface="Segoe UI"/>
              </a:rPr>
              <a:t>Read honestly: reliably beats SPY, statistically close to equal weight. The frozen run is one draw, kept so the demo reproduces.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EAF1F8"/>
                </a:solidFill>
                <a:latin typeface="Segoe UI"/>
              </a:rPr>
              <a:t>Top contributors: </a:t>
            </a:r>
            <a:r>
              <a:rPr sz="1300" b="0" i="0">
                <a:solidFill>
                  <a:srgbClr val="9FB0C0"/>
                </a:solidFill>
                <a:latin typeface="Segoe UI"/>
              </a:rPr>
              <a:t>AAPL +4.6 pts, XOM +3.5, KO +2.8; only NEE detracted. Beating the market was never the goal — a traceable thesis and an honest test are, and we report the result either 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A6D80"/>
                </a:solidFill>
                <a:latin typeface="Segoe UI"/>
              </a:rPr>
              <a:t>Multi-agent portfolio research · Austin Agentic AI Hackathon · historical experiment, not financial advice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9FB0C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Segoe UI"/>
              </a:rPr>
              <a:t>CREDIBILITY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EAF1F8"/>
                </a:solidFill>
                <a:latin typeface="Segoe UI"/>
              </a:rPr>
              <a:t>Stress-tested, self-checking, and honest about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1C8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0292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Risk desk + CrashLab (both shipped)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0" i="0">
                <a:solidFill>
                  <a:srgbClr val="9FB0C0"/>
                </a:solidFill>
                <a:latin typeface="Segoe UI"/>
              </a:rPr>
              <a:t>A risk agent monitors the portfolio against the manager's own triggers and would trigger a rebalance; in v1 it is report-only, so the scored decision stays frozen. </a:t>
            </a:r>
            <a:r>
              <a:rPr sz="1250" b="1" i="0">
                <a:solidFill>
                  <a:srgbClr val="1C8A5E"/>
                </a:solidFill>
                <a:latin typeface="Segoe UI"/>
              </a:rPr>
              <a:t>8/8 mechanical checks pass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, and lessons from earlier runs feed back so the next portfolio avoids the same mistake.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0" i="0">
                <a:solidFill>
                  <a:srgbClr val="9FB0C0"/>
                </a:solidFill>
                <a:latin typeface="Segoe UI"/>
              </a:rPr>
              <a:t>CrashLab replays the weights through 2008 (</a:t>
            </a:r>
            <a:r>
              <a:rPr sz="1250" b="1" i="0">
                <a:solidFill>
                  <a:srgbClr val="D65A5A"/>
                </a:solidFill>
                <a:latin typeface="Segoe UI"/>
              </a:rPr>
              <a:t>-52%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) and 2020 (</a:t>
            </a:r>
            <a:r>
              <a:rPr sz="1250" b="1" i="0">
                <a:solidFill>
                  <a:srgbClr val="D65A5A"/>
                </a:solidFill>
                <a:latin typeface="Segoe UI"/>
              </a:rPr>
              <a:t>-27%</a:t>
            </a:r>
            <a:r>
              <a:rPr sz="1200" b="0" i="0">
                <a:solidFill>
                  <a:srgbClr val="9FB0C0"/>
                </a:solidFill>
                <a:latin typeface="Segoe UI"/>
              </a:rPr>
              <a:t>) plus five invented shocks, then proposes protective trims with an explicit drawdown-removed vs return-given-up trade-off. The frozen decision never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142438"/>
          </a:solidFill>
          <a:ln w="25400">
            <a:solidFill>
              <a:srgbClr val="1B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EAF1F8"/>
                </a:solidFill>
                <a:latin typeface="Segoe UI"/>
              </a:rPr>
              <a:t>Why trust it, and where it goes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0749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F9900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1F8"/>
                </a:solidFill>
                <a:latin typeface="Segoe UI"/>
              </a:rPr>
              <a:t>Reproducible. </a:t>
            </a:r>
            <a:r>
              <a:rPr sz="1250" b="0" i="0">
                <a:solidFill>
                  <a:srgbClr val="9FB0C0"/>
                </a:solidFill>
                <a:latin typeface="Segoe UI"/>
              </a:rPr>
              <a:t>Every model call is cached; a fresh clone returns the same decision and metrics.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F9900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1F8"/>
                </a:solidFill>
                <a:latin typeface="Segoe UI"/>
              </a:rPr>
              <a:t>Honest limits. </a:t>
            </a:r>
            <a:r>
              <a:rPr sz="1250" b="0" i="0">
                <a:solidFill>
                  <a:srgbClr val="9FB0C0"/>
                </a:solidFill>
                <a:latin typeface="Segoe UI"/>
              </a:rPr>
              <a:t>Model memory, a 180-day window, a curated sentiment fallback, FRED unreachable — all stated.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F9900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1F8"/>
                </a:solidFill>
                <a:latin typeface="Segoe UI"/>
              </a:rPr>
              <a:t>Graded. </a:t>
            </a:r>
            <a:r>
              <a:rPr sz="1250" b="0" i="0">
                <a:solidFill>
                  <a:srgbClr val="9FB0C0"/>
                </a:solidFill>
                <a:latin typeface="Segoe UI"/>
              </a:rPr>
              <a:t>An analyst scorecard shows fundamentals and technical drove the result.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 i="0">
                <a:solidFill>
                  <a:srgbClr val="FF9900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EAF1F8"/>
                </a:solidFill>
                <a:latin typeface="Segoe UI"/>
              </a:rPr>
              <a:t>Next. </a:t>
            </a:r>
            <a:r>
              <a:rPr sz="1250" b="0" i="0">
                <a:solidFill>
                  <a:srgbClr val="9FB0C0"/>
                </a:solidFill>
                <a:latin typeface="Segoe UI"/>
              </a:rPr>
              <a:t>Promote the risk agent to month-end rebalancing; widen the universe and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1">
                <a:solidFill>
                  <a:srgbClr val="9FB0C0"/>
                </a:solidFill>
                <a:latin typeface="Segoe UI"/>
              </a:rPr>
              <a:t>Historical experiment, not financial advice or a trading recommendation.    </a:t>
            </a:r>
            <a:r>
              <a:rPr sz="1300" b="1" i="0">
                <a:solidFill>
                  <a:srgbClr val="FF9900"/>
                </a:solidFill>
                <a:latin typeface="Segoe UI"/>
              </a:rP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A6D80"/>
                </a:solidFill>
                <a:latin typeface="Segoe UI"/>
              </a:rPr>
              <a:t>Multi-agent portfolio research · Austin Agentic AI Hackathon · historical experiment, not financial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9FB0C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