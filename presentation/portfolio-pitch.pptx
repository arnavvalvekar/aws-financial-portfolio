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20s. Say what it is and that it's a historical experiment, not advice. Point at the four cards: universe, cutoff, end date, baselines. One line on the point-in-time guard so judges know there's no look-ahead.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~1:40. One sentence on the pipeline, one per analyst if time. Then open ONE decision, picked by largest disagreement, not by which analyst won. Fill the [placeholders] from the final run first. Stress traceability: sources and the validator, not vibes.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~1:00. Walk the metrics table vs both baselines (fill before presenting), add contribution by position if built. Close on credibility: leakage test, cached reproducible run, limitations. Stretch items are 'what's next' — only show as results once actually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F2C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EAF1F8"/>
                </a:solidFill>
                <a:latin typeface="Segoe UI"/>
              </a:rPr>
              <a:t>Multi-agent portfolio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9FB0C0"/>
                </a:solidFill>
                <a:latin typeface="Segoe UI"/>
              </a:rPr>
              <a:t>Five analyst agents plus a portfolio manager build a portfolio from data up to a cutoff. A backtest scores it against what the market did next.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2615184" cy="114300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1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377440"/>
            <a:ext cx="2395728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AF1F8"/>
                </a:solidFill>
                <a:latin typeface="Segoe UI"/>
              </a:rPr>
              <a:t>Universe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FB0C0"/>
                </a:solidFill>
                <a:latin typeface="Segoe UI"/>
              </a:rPr>
              <a:t>10 S&amp;P 500 names
7+ sectors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286000"/>
            <a:ext cx="2615184" cy="114300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9B3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75304" y="2377440"/>
            <a:ext cx="2395728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AF1F8"/>
                </a:solidFill>
                <a:latin typeface="Segoe UI"/>
              </a:rPr>
              <a:t>Cutoff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FB0C0"/>
                </a:solidFill>
                <a:latin typeface="Segoe UI"/>
              </a:rPr>
              <a:t>2026-01-30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86000"/>
            <a:ext cx="2615184" cy="114300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0E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2395728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AF1F8"/>
                </a:solidFill>
                <a:latin typeface="Segoe UI"/>
              </a:rPr>
              <a:t>End scored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FB0C0"/>
                </a:solidFill>
                <a:latin typeface="Segoe UI"/>
              </a:rPr>
              <a:t>2026-10-16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16567" y="2286000"/>
            <a:ext cx="2615184" cy="114300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1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26295" y="2377440"/>
            <a:ext cx="2395728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AF1F8"/>
                </a:solidFill>
                <a:latin typeface="Segoe UI"/>
              </a:rPr>
              <a:t>Baselines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FB0C0"/>
                </a:solidFill>
                <a:latin typeface="Segoe UI"/>
              </a:rPr>
              <a:t>SPY, equal weight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49039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1A2412"/>
          </a:solidFill>
          <a:ln w="15875">
            <a:solidFill>
              <a:srgbClr val="5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13632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2C45A"/>
                </a:solidFill>
                <a:latin typeface="Segoe UI"/>
              </a:rPr>
              <a:t>No peeking.  </a:t>
            </a:r>
            <a:r>
              <a:rPr sz="1350" b="0" i="0">
                <a:solidFill>
                  <a:srgbClr val="EAF1F8"/>
                </a:solidFill>
                <a:latin typeface="Segoe UI"/>
              </a:rPr>
              <a:t>One point-in-time guard is the only door to data, and a leakage test fails the run if any date slips past the cutoff.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920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9FB0C0"/>
                </a:solidFill>
                <a:latin typeface="Segoe UI"/>
              </a:rPr>
              <a:t>Historical experiment, not financial advice or a trading recommendation.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F2C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EAF1F8"/>
                </a:solidFill>
                <a:latin typeface="Segoe UI"/>
              </a:rPr>
              <a:t>How it thinks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2505456" cy="137160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0E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71600"/>
            <a:ext cx="2286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AF1F8"/>
                </a:solidFill>
                <a:latin typeface="Segoe UI"/>
              </a:rPr>
              <a:t>Evidence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FB0C0"/>
                </a:solidFill>
                <a:latin typeface="Segoe UI"/>
              </a:rPr>
              <a:t>prices · macro · filings
news · geopolitics
(each claim cites an ID)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63824" y="1828800"/>
            <a:ext cx="320040" cy="274320"/>
          </a:xfrm>
          <a:prstGeom prst="rightArrow">
            <a:avLst/>
          </a:prstGeom>
          <a:solidFill>
            <a:srgbClr val="7FA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02152" y="1280160"/>
            <a:ext cx="2505456" cy="137160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9B3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371600"/>
            <a:ext cx="2286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AF1F8"/>
                </a:solidFill>
                <a:latin typeface="Segoe UI"/>
              </a:rPr>
              <a:t>5 analysts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FB0C0"/>
                </a:solidFill>
                <a:latin typeface="Segoe UI"/>
              </a:rPr>
              <a:t>technical · fundamentals
macro · sentiment · geopolitics
stance + confidence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25896" y="1828800"/>
            <a:ext cx="320040" cy="274320"/>
          </a:xfrm>
          <a:prstGeom prst="rightArrow">
            <a:avLst/>
          </a:prstGeom>
          <a:solidFill>
            <a:srgbClr val="7FA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64224" y="1280160"/>
            <a:ext cx="2505456" cy="137160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9B3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371600"/>
            <a:ext cx="2286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AF1F8"/>
                </a:solidFill>
                <a:latin typeface="Segoe UI"/>
              </a:rPr>
              <a:t>Portfolio manager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FB0C0"/>
                </a:solidFill>
                <a:latin typeface="Segoe UI"/>
              </a:rPr>
              <a:t>reconciles conflicts into
weights, rationale,
sources, triggers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887968" y="1828800"/>
            <a:ext cx="320040" cy="274320"/>
          </a:xfrm>
          <a:prstGeom prst="rightArrow">
            <a:avLst/>
          </a:prstGeom>
          <a:solidFill>
            <a:srgbClr val="7FA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26296" y="1280160"/>
            <a:ext cx="2505456" cy="137160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1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6024" y="1371600"/>
            <a:ext cx="2286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AF1F8"/>
                </a:solidFill>
                <a:latin typeface="Segoe UI"/>
              </a:rPr>
              <a:t>Backtest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FB0C0"/>
                </a:solidFill>
                <a:latin typeface="Segoe UI"/>
              </a:rPr>
              <a:t>vs SPY &amp; equal weight
fees,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AF1F8"/>
                </a:solidFill>
                <a:latin typeface="Segoe UI"/>
              </a:rPr>
              <a:t>Open one decision </a:t>
            </a:r>
            <a:r>
              <a:rPr sz="1500" b="1" i="0">
                <a:solidFill>
                  <a:srgbClr val="F2C45A"/>
                </a:solidFill>
                <a:latin typeface="Segoe UI"/>
              </a:rPr>
              <a:t>— the biggest analyst disagreement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61188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9B3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794760"/>
            <a:ext cx="49377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2C45A"/>
                </a:solidFill>
                <a:latin typeface="Segoe UI"/>
              </a:rPr>
              <a:t>[TICKER]</a:t>
            </a:r>
            <a:r>
              <a:rPr sz="1200" b="0" i="0">
                <a:solidFill>
                  <a:srgbClr val="9FB0C0"/>
                </a:solidFill>
                <a:latin typeface="Segoe UI"/>
              </a:rPr>
              <a:t>  deep-dive position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EAF1F8"/>
                </a:solidFill>
                <a:latin typeface="Segoe UI"/>
              </a:rPr>
              <a:t>Technical: </a:t>
            </a:r>
            <a:r>
              <a:rPr sz="1300" b="0" i="0">
                <a:solidFill>
                  <a:srgbClr val="F2C45A"/>
                </a:solidFill>
                <a:latin typeface="Segoe UI"/>
              </a:rPr>
              <a:t>[stance]</a:t>
            </a:r>
            <a:r>
              <a:rPr sz="1300" b="0" i="0">
                <a:solidFill>
                  <a:srgbClr val="EAF1F8"/>
                </a:solidFill>
                <a:latin typeface="Segoe UI"/>
              </a:rPr>
              <a:t>   Fundamentals: </a:t>
            </a:r>
            <a:r>
              <a:rPr sz="1300" b="0" i="0">
                <a:solidFill>
                  <a:srgbClr val="F2C45A"/>
                </a:solidFill>
                <a:latin typeface="Segoe UI"/>
              </a:rPr>
              <a:t>[stance]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EAF1F8"/>
                </a:solidFill>
                <a:latin typeface="Segoe UI"/>
              </a:rPr>
              <a:t>Conflict: </a:t>
            </a:r>
            <a:r>
              <a:rPr sz="1300" b="0" i="0">
                <a:solidFill>
                  <a:srgbClr val="F2C45A"/>
                </a:solidFill>
                <a:latin typeface="Segoe UI"/>
              </a:rPr>
              <a:t>[what they disagreed on]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EAF1F8"/>
                </a:solidFill>
                <a:latin typeface="Segoe UI"/>
              </a:rPr>
              <a:t>Manager's call: </a:t>
            </a:r>
            <a:r>
              <a:rPr sz="1300" b="0" i="0">
                <a:solidFill>
                  <a:srgbClr val="F2C45A"/>
                </a:solidFill>
                <a:latin typeface="Segoe UI"/>
              </a:rPr>
              <a:t>[weight]</a:t>
            </a:r>
            <a:r>
              <a:rPr sz="1300" b="0" i="0">
                <a:solidFill>
                  <a:srgbClr val="EAF1F8"/>
                </a:solidFill>
                <a:latin typeface="Segoe UI"/>
              </a:rPr>
              <a:t> because </a:t>
            </a:r>
            <a:r>
              <a:rPr sz="1300" b="0" i="0">
                <a:solidFill>
                  <a:srgbClr val="F2C45A"/>
                </a:solidFill>
                <a:latin typeface="Segoe UI"/>
              </a:rPr>
              <a:t>[one line]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3912" y="361188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1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794760"/>
            <a:ext cx="49377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AF1F8"/>
                </a:solidFill>
                <a:latin typeface="Segoe UI"/>
              </a:rPr>
              <a:t>Traceable by construction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9FB0C0"/>
                </a:solidFill>
                <a:latin typeface="Segoe UI"/>
              </a:rPr>
              <a:t>•  weights sum to 1, caps enforced in code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9FB0C0"/>
                </a:solidFill>
                <a:latin typeface="Segoe UI"/>
              </a:rPr>
              <a:t>•  cited IDs must exist in the evidence pack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9FB0C0"/>
                </a:solidFill>
                <a:latin typeface="Segoe UI"/>
              </a:rPr>
              <a:t>•  re-prompt once, then deterministic repair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2011680" cy="38100"/>
          </a:xfrm>
          <a:prstGeom prst="rect">
            <a:avLst/>
          </a:prstGeom>
          <a:solidFill>
            <a:srgbClr val="F2C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EAF1F8"/>
                </a:solidFill>
                <a:latin typeface="Segoe UI"/>
              </a:rPr>
              <a:t>What happened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88720"/>
          <a:ext cx="1090879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478024"/>
                <a:gridCol w="2478024"/>
                <a:gridCol w="2478024"/>
              </a:tblGrid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EAF1F8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marT="38100" marB="38100" marL="101600" marR="101600" anchor="ctr">
                    <a:solidFill>
                      <a:srgbClr val="1B5F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EAF1F8"/>
                          </a:solidFill>
                          <a:latin typeface="Segoe UI"/>
                        </a:rPr>
                        <a:t>Portfolio</a:t>
                      </a:r>
                    </a:p>
                  </a:txBody>
                  <a:tcPr marT="38100" marB="38100" marL="101600" marR="101600" anchor="ctr">
                    <a:solidFill>
                      <a:srgbClr val="1B5F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EAF1F8"/>
                          </a:solidFill>
                          <a:latin typeface="Segoe UI"/>
                        </a:rPr>
                        <a:t>SPY</a:t>
                      </a:r>
                    </a:p>
                  </a:txBody>
                  <a:tcPr marT="38100" marB="38100" marL="101600" marR="101600" anchor="ctr">
                    <a:solidFill>
                      <a:srgbClr val="1B5F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EAF1F8"/>
                          </a:solidFill>
                          <a:latin typeface="Segoe UI"/>
                        </a:rPr>
                        <a:t>Equal weight</a:t>
                      </a:r>
                    </a:p>
                  </a:txBody>
                  <a:tcPr marT="38100" marB="38100" marL="101600" marR="101600" anchor="ctr">
                    <a:solidFill>
                      <a:srgbClr val="1B5FA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EAF1F8"/>
                          </a:solidFill>
                          <a:latin typeface="Segoe UI"/>
                        </a:rPr>
                        <a:t>Total return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F2C45A"/>
                          </a:solidFill>
                          <a:latin typeface="Segoe UI"/>
                        </a:rPr>
                        <a:t>[  _  ]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F2C45A"/>
                          </a:solidFill>
                          <a:latin typeface="Segoe UI"/>
                        </a:rPr>
                        <a:t>[  _  ]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F2C45A"/>
                          </a:solidFill>
                          <a:latin typeface="Segoe UI"/>
                        </a:rPr>
                        <a:t>[  _  ]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EAF1F8"/>
                          </a:solidFill>
                          <a:latin typeface="Segoe UI"/>
                        </a:rPr>
                        <a:t>Sharpe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F2C45A"/>
                          </a:solidFill>
                          <a:latin typeface="Segoe UI"/>
                        </a:rPr>
                        <a:t>[  _  ]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F2C45A"/>
                          </a:solidFill>
                          <a:latin typeface="Segoe UI"/>
                        </a:rPr>
                        <a:t>[  _  ]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F2C45A"/>
                          </a:solidFill>
                          <a:latin typeface="Segoe UI"/>
                        </a:rPr>
                        <a:t>[  _  ]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EAF1F8"/>
                          </a:solidFill>
                          <a:latin typeface="Segoe UI"/>
                        </a:rPr>
                        <a:t>Max drawdown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F2C45A"/>
                          </a:solidFill>
                          <a:latin typeface="Segoe UI"/>
                        </a:rPr>
                        <a:t>[  _  ]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F2C45A"/>
                          </a:solidFill>
                          <a:latin typeface="Segoe UI"/>
                        </a:rPr>
                        <a:t>[  _  ]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F2C45A"/>
                          </a:solidFill>
                          <a:latin typeface="Segoe UI"/>
                        </a:rPr>
                        <a:t>[  _  ]</a:t>
                      </a:r>
                    </a:p>
                  </a:txBody>
                  <a:tcPr marT="38100" marB="38100" marL="101600" marR="101600" anchor="ctr">
                    <a:solidFill>
                      <a:srgbClr val="13263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9087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1">
                <a:solidFill>
                  <a:srgbClr val="9FB0C0"/>
                </a:solidFill>
                <a:latin typeface="Segoe UI"/>
              </a:rPr>
              <a:t>Fill from the final cached run. Beating the market isn't required — explaining the result and testing it against the baselines is the point.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9476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1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95935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AF1F8"/>
                </a:solidFill>
                <a:latin typeface="Segoe UI"/>
              </a:rPr>
              <a:t>Why trust it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9FB0C0"/>
                </a:solidFill>
                <a:latin typeface="Segoe UI"/>
              </a:rPr>
              <a:t>•  leakage test on every run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9FB0C0"/>
                </a:solidFill>
                <a:latin typeface="Segoe UI"/>
              </a:rPr>
              <a:t>•  one cached, reproducible final run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9FB0C0"/>
                </a:solidFill>
                <a:latin typeface="Segoe UI"/>
              </a:rPr>
              <a:t>•  limitations stated, including model 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379476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13263A"/>
          </a:solidFill>
          <a:ln w="25400">
            <a:solidFill>
              <a:srgbClr val="0E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395935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AF1F8"/>
                </a:solidFill>
                <a:latin typeface="Segoe UI"/>
              </a:rPr>
              <a:t>What's next </a:t>
            </a:r>
            <a:r>
              <a:rPr sz="1200" b="1" i="0">
                <a:solidFill>
                  <a:srgbClr val="F2C45A"/>
                </a:solidFill>
                <a:latin typeface="Segoe UI"/>
              </a:rPr>
              <a:t>(stretch)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AF1F8"/>
                </a:solidFill>
                <a:latin typeface="Segoe UI"/>
              </a:rPr>
              <a:t>Risk management</a:t>
            </a:r>
            <a:r>
              <a:rPr sz="1250" b="0" i="0">
                <a:solidFill>
                  <a:srgbClr val="9FB0C0"/>
                </a:solidFill>
                <a:latin typeface="Segoe UI"/>
              </a:rPr>
              <a:t> — watch the portfolio, detect regime shifts, feed lessons back to the manager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AF1F8"/>
                </a:solidFill>
                <a:latin typeface="Segoe UI"/>
              </a:rPr>
              <a:t>CrashLab</a:t>
            </a:r>
            <a:r>
              <a:rPr sz="1250" b="0" i="0">
                <a:solidFill>
                  <a:srgbClr val="9FB0C0"/>
                </a:solidFill>
                <a:latin typeface="Segoe UI"/>
              </a:rPr>
              <a:t> — replay the weights through 2008, 2020 and invented shocks, propose protective changes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109087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9FB0C0"/>
                </a:solidFill>
                <a:latin typeface="Segoe UI"/>
              </a:rPr>
              <a:t>Historical experiment, not financial advice.  Thanks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